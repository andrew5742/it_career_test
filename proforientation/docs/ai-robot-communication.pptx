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59" r:id="rId5"/>
    <p:sldId id="262" r:id="rId6"/>
    <p:sldId id="263" r:id="rId7"/>
    <p:sldId id="264" r:id="rId8"/>
    <p:sldId id="261" r:id="rId9"/>
    <p:sldId id="265" r:id="rId10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0"/>
    <p:restoredTop sz="94697"/>
  </p:normalViewPr>
  <p:slideViewPr>
    <p:cSldViewPr snapToGrid="0">
      <p:cViewPr varScale="1">
        <p:scale>
          <a:sx n="119" d="100"/>
          <a:sy n="119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C2846-0B0C-4F4B-BD95-85FAD10560F3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FF2FB-CE06-8449-B2FA-2A31802CB9D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3409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effectLst/>
                <a:latin typeface="Helvetica Neue" panose="02000503000000020004" pitchFamily="2" charset="0"/>
              </a:rPr>
              <a:t>Коли ми чуємо слово “робот”, багато хто уявляє собі героя з фільму або фантастичну машину з майбутнього.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Але насправді роботи вже давно поруч із нами. Вони допомагають нам удома, вчать, розважають і навіть можуть з нами спілкуватися.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Найцікавіше починається тоді, коли в роботів з’являється штучний інтелект. Тоді робот перестає бути просто машиною і починає поводитися більш “по-людськи”. Саме таких роботів ми сьогодні і будемо розглядати.</a:t>
            </a:r>
          </a:p>
          <a:p>
            <a:br>
              <a:rPr lang="uk-UA" dirty="0">
                <a:effectLst/>
                <a:latin typeface="Helvetica Neue" panose="02000503000000020004" pitchFamily="2" charset="0"/>
              </a:rPr>
            </a:br>
            <a:endParaRPr lang="uk-UA" dirty="0">
              <a:effectLst/>
              <a:latin typeface="Helvetica Neue" panose="02000503000000020004" pitchFamily="2" charset="0"/>
            </a:endParaRP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2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17656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effectLst/>
                <a:latin typeface="Helvetica Neue" panose="02000503000000020004" pitchFamily="2" charset="0"/>
              </a:rPr>
              <a:t>Звичайний робот працює дуже просто: йому дали команду — він її виконав.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Наприклад, натиснули кнопку — він поїхав, відпустили — зупинився.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ШІ-робот працює інакше. Він може почути голос, побачити людину, зрозуміти жест і вирішити, як краще відреагувати.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Тобто ми не просто керуємо ним, а починаємо з ним взаємодіяти, майже як із живою </a:t>
            </a:r>
            <a:r>
              <a:rPr lang="uk-UA" dirty="0" err="1">
                <a:effectLst/>
                <a:latin typeface="Helvetica Neue" panose="02000503000000020004" pitchFamily="2" charset="0"/>
              </a:rPr>
              <a:t>істотою</a:t>
            </a:r>
            <a:r>
              <a:rPr lang="uk-UA" dirty="0">
                <a:effectLst/>
                <a:latin typeface="Helvetica Neue" panose="02000503000000020004" pitchFamily="2" charset="0"/>
              </a:rPr>
              <a:t>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59913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effectLst/>
                <a:latin typeface="Helvetica Neue" panose="02000503000000020004" pitchFamily="2" charset="0"/>
              </a:rPr>
              <a:t>Зараз я хочу познайомити вас із роботом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Loona</a:t>
            </a:r>
            <a:r>
              <a:rPr lang="en-GB" dirty="0">
                <a:effectLst/>
                <a:latin typeface="Helvetica Neue" panose="02000503000000020004" pitchFamily="2" charset="0"/>
              </a:rPr>
              <a:t>.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Це не просто робот, а робот-друг або цифровий улюбленець.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Його створили так, щоб людина сприймала його не як пристрій, а як когось “живого” — з характером, емоціями та поведінкою.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Саме тому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Loona</a:t>
            </a:r>
            <a:r>
              <a:rPr lang="en-GB" dirty="0">
                <a:effectLst/>
                <a:latin typeface="Helvetica Neue" panose="02000503000000020004" pitchFamily="2" charset="0"/>
              </a:rPr>
              <a:t> </a:t>
            </a:r>
            <a:r>
              <a:rPr lang="uk-UA" dirty="0">
                <a:effectLst/>
                <a:latin typeface="Helvetica Neue" panose="02000503000000020004" pitchFamily="2" charset="0"/>
              </a:rPr>
              <a:t>виглядає мило, рухається як тваринка і реагує на людину.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28183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 Neue" panose="02000503000000020004" pitchFamily="2" charset="0"/>
              </a:rPr>
              <a:t>Loona</a:t>
            </a:r>
            <a:r>
              <a:rPr lang="en-GB" dirty="0">
                <a:effectLst/>
                <a:latin typeface="Helvetica Neue" panose="02000503000000020004" pitchFamily="2" charset="0"/>
              </a:rPr>
              <a:t> </a:t>
            </a:r>
            <a:r>
              <a:rPr lang="uk-UA" dirty="0">
                <a:effectLst/>
                <a:latin typeface="Helvetica Neue" panose="02000503000000020004" pitchFamily="2" charset="0"/>
              </a:rPr>
              <a:t>може сприймати світ навколо себе.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Вона реагує на голос, на рухи, на жести та навіть на те, що відбувається поруч із нею.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У неї є власні емоції — радість, цікавість, здивування.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Саме завдяки цьому здається, що робот не просто виконує команди, а справді “спілкується” з нами.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51935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effectLst/>
                <a:latin typeface="Helvetica Neue" panose="02000503000000020004" pitchFamily="2" charset="0"/>
              </a:rPr>
              <a:t>Щоб керувати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Loona</a:t>
            </a:r>
            <a:r>
              <a:rPr lang="en-GB" dirty="0">
                <a:effectLst/>
                <a:latin typeface="Helvetica Neue" panose="02000503000000020004" pitchFamily="2" charset="0"/>
              </a:rPr>
              <a:t>, </a:t>
            </a:r>
            <a:r>
              <a:rPr lang="uk-UA" dirty="0">
                <a:effectLst/>
                <a:latin typeface="Helvetica Neue" panose="02000503000000020004" pitchFamily="2" charset="0"/>
              </a:rPr>
              <a:t>нам не потрібен складний пульт або комп’ютер.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Усе відбувається через звичайний смартфон.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Через застосунок ми можемо керувати рухами робота, запускати ігри, змінювати поведінку та навіть програмувати його.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Це означає, що сучасні роботи легко поєднуються з тими пристроями, якими ми користуємося щодня.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7466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 Neue" panose="02000503000000020004" pitchFamily="2" charset="0"/>
              </a:rPr>
              <a:t>Loona</a:t>
            </a:r>
            <a:r>
              <a:rPr lang="en-GB" dirty="0">
                <a:effectLst/>
                <a:latin typeface="Helvetica Neue" panose="02000503000000020004" pitchFamily="2" charset="0"/>
              </a:rPr>
              <a:t> </a:t>
            </a:r>
            <a:r>
              <a:rPr lang="uk-UA" dirty="0">
                <a:effectLst/>
                <a:latin typeface="Helvetica Neue" panose="02000503000000020004" pitchFamily="2" charset="0"/>
              </a:rPr>
              <a:t>можна програмувати, але для цього не потрібно писати складний код.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Програмування тут відбувається за допомогою візуальних блоків — майже так само, як у </a:t>
            </a:r>
            <a:r>
              <a:rPr lang="en-GB" dirty="0">
                <a:effectLst/>
                <a:latin typeface="Helvetica Neue" panose="02000503000000020004" pitchFamily="2" charset="0"/>
              </a:rPr>
              <a:t>Scratch.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Ми просто з’єднуємо блоки між собою і пояснюємо роботу, що саме він має робити: рухатися, реагувати, говорити або гратися.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Це дуже хороший спосіб навчитися </a:t>
            </a:r>
            <a:r>
              <a:rPr lang="uk-UA" dirty="0" err="1">
                <a:effectLst/>
                <a:latin typeface="Helvetica Neue" panose="02000503000000020004" pitchFamily="2" charset="0"/>
              </a:rPr>
              <a:t>логіці</a:t>
            </a:r>
            <a:r>
              <a:rPr lang="uk-UA" dirty="0">
                <a:effectLst/>
                <a:latin typeface="Helvetica Neue" panose="02000503000000020004" pitchFamily="2" charset="0"/>
              </a:rPr>
              <a:t> програмування.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1374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effectLst/>
                <a:latin typeface="Helvetica Neue" panose="02000503000000020004" pitchFamily="2" charset="0"/>
              </a:rPr>
              <a:t>Спілкування з ШІ-роботами — це не лише про технології.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Це про розвиток мислення, логіки та розуміння того, як працює штучний інтелект.</a:t>
            </a:r>
          </a:p>
          <a:p>
            <a:r>
              <a:rPr lang="uk-UA" dirty="0">
                <a:effectLst/>
                <a:latin typeface="Helvetica Neue" panose="02000503000000020004" pitchFamily="2" charset="0"/>
              </a:rPr>
              <a:t>Такі роботи допомагають навчатися через гру, експерименти та цікаву взаємодію.</a:t>
            </a:r>
            <a:br>
              <a:rPr lang="uk-UA" dirty="0">
                <a:effectLst/>
                <a:latin typeface="Helvetica Neue" panose="02000503000000020004" pitchFamily="2" charset="0"/>
              </a:rPr>
            </a:br>
            <a:r>
              <a:rPr lang="uk-UA" dirty="0">
                <a:effectLst/>
                <a:latin typeface="Helvetica Neue" panose="02000503000000020004" pitchFamily="2" charset="0"/>
              </a:rPr>
              <a:t>І саме тому ШІ-роботи стають важливою частиною освіти та нашого майбутнього.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87058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>
                <a:effectLst/>
                <a:latin typeface="Helvetica Neue" panose="02000503000000020004" pitchFamily="2" charset="0"/>
              </a:rPr>
              <a:t>А тепер давайте не просто говорити про робота, а познайомимося з ним наживо.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FF2FB-CE06-8449-B2FA-2A31802CB9DC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91936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99B7-DB5B-2970-FB67-7F60E163B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DAFDC-0992-8306-2A9C-782D23AB0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04ECA-158F-EFEC-8D58-D6F219A5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F8255-51EF-A3DD-3743-D905B0AB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32C05-7037-AE17-B703-77D0B792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03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B104-A60A-E404-36F9-297FB523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AFC5-3073-128E-4994-C06599AC8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62EA-56DE-953F-5F5B-24B943A1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81FAB-34D1-D7AC-7648-ED87CDAA4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46274-FCB5-2849-EFC1-B4678602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8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5702-CD0E-A729-F59D-E0C67E92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CCA8A-2D99-2471-8542-31EEEB39B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EE736-B4BC-4236-754F-4D2CE028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09904-E61D-54CE-4DC0-3ED3B1F0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E154A-E9DE-BB1A-569D-B801D889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1858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60E4-D789-8636-8944-67A5F420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3833-823B-3BB0-3780-65FBEFDCB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ACDF-FF16-EA9C-5A8F-73D66BA84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9E98D-467E-27BD-ADC4-0900961D2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E5C1A-F4D7-BFFB-C7E5-0C8734F5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1CB12-4DA0-3DFE-2845-9B41367C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23057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DE95-30BA-1933-E9E1-0513BDEB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2622B-C597-8FFB-C0C1-4C51EEF3B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DB5C9-6878-E1A9-4ED4-7BAD21234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964C3-F1E9-575F-23BF-1E1606F38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A1428D-D120-412E-C2DD-CD7430D9C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8F96ED-5FD8-43A5-5909-8FD5AF04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8C11F-45B1-0739-662A-AB848D37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C9113-9F13-F1B0-6EF3-5E86C2B2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7099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046E-792D-5F2F-C4C1-7597CAFF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DC65B-79D1-722C-AEA9-4AE0F7EA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D5086-CCD9-3FCD-29E6-A9094D5F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C77A0-EF57-D95C-940B-5CF365FC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07418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347BA-05B9-A038-A64A-297CF587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29C99-FFF2-01B4-9E7B-BF57BBA2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4FBFC-0E74-66AA-4016-CCA45C49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09928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0328-41E0-1CE5-A5E0-6DAC1601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D0C7-AC12-2A6F-01AE-08F0014AF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8B8F6-5E83-1576-8F1A-00C06052A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87587-8E00-708C-4FCB-920A4053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6BEF4-7962-8C5E-0A12-31AF0B0A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A79EA-A9EA-71A7-C070-5DAE466E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72963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68DA-1D95-C739-AE55-F9FCAB2E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987CE-60FC-6801-7E2A-76A7E34FA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583DA-15DD-9486-C282-09A1DA46E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AE32D-6DA9-0312-A728-32B8A5B3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138CF-CB54-615C-6312-8F9131AE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F66A7-3A78-CD02-A62D-962244AC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44629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1B22-813B-B9E2-C40E-5A83F8F5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67C9B-3A01-B619-9B9D-A2A2170A2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8ECCD-19C0-D828-967B-EE45D9C0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654F2-4D3D-6C2F-AA82-B1535F5C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EE992-6824-FE72-F8C6-00F134A4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3258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8A585F-670F-6E3D-1C2E-93875CE15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9F358-CC01-686B-D5F2-9898F6506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625B-119F-DC7D-56D7-5F02FDDF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B827B-2D1D-434C-31D9-92B0C116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BA046-7D4E-5E43-208A-AF2F06D1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66165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53884-CFE7-3278-AC12-8273F962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343E3-1893-37C3-C161-ECF4CE9AD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99C51-49CD-C8E1-993E-29F84D04F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569A7-07F6-E545-9EF9-F6E2C449718B}" type="datetimeFigureOut">
              <a:rPr lang="en-UA" smtClean="0"/>
              <a:t>26.02.2026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AEA4F-4B3A-6292-6677-D134673F7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5525C-C9CB-60CB-95F5-770BAFE25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8A32C-501E-1644-9C36-DA514111E037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4375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9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8DF6-E898-6EC8-E2F9-56B95ECE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74" y="28576"/>
            <a:ext cx="8924925" cy="1325563"/>
          </a:xfrm>
        </p:spPr>
        <p:txBody>
          <a:bodyPr>
            <a:normAutofit/>
          </a:bodyPr>
          <a:lstStyle/>
          <a:p>
            <a:r>
              <a:rPr lang="uk-UA" sz="3200" dirty="0">
                <a:latin typeface="Unbounded Medium" pitchFamily="2" charset="77"/>
              </a:rPr>
              <a:t>Хто такі ШІ-роботи і чому вони нас дивують</a:t>
            </a:r>
            <a:endParaRPr lang="en-UA" sz="3200" dirty="0">
              <a:latin typeface="Unbounded Medium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CF5B-C594-3A6A-62A4-D30F8749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981075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>
                <a:latin typeface="+mj-lt"/>
              </a:rPr>
              <a:t>Сьогодні роботи </a:t>
            </a:r>
            <a:r>
              <a:rPr lang="en-US" dirty="0">
                <a:latin typeface="+mj-lt"/>
              </a:rPr>
              <a:t>–</a:t>
            </a:r>
            <a:r>
              <a:rPr lang="uk-UA" dirty="0">
                <a:latin typeface="+mj-lt"/>
              </a:rPr>
              <a:t> це вже не лише машини з фільмів. Вони стають частиною нашого повсякденного життя: допомагають, розважають, навчають і навіть спілкуються з людьми.</a:t>
            </a:r>
            <a:endParaRPr lang="en-UA" sz="4000" dirty="0">
              <a:latin typeface="+mj-lt"/>
            </a:endParaRPr>
          </a:p>
        </p:txBody>
      </p:sp>
      <p:pic>
        <p:nvPicPr>
          <p:cNvPr id="1026" name="Picture 2" descr="Loona Blue Pet Robot-Intelligent Conversational Game Singapore | Ubuy">
            <a:extLst>
              <a:ext uri="{FF2B5EF4-FFF2-40B4-BE49-F238E27FC236}">
                <a16:creationId xmlns:a16="http://schemas.microsoft.com/office/drawing/2014/main" id="{49EF6A41-9BF7-C5AD-EF9F-16FC4154C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0" y="3400424"/>
            <a:ext cx="33147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4424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8DF6-E898-6EC8-E2F9-56B95ECE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762" y="18256"/>
            <a:ext cx="9810750" cy="1325563"/>
          </a:xfrm>
        </p:spPr>
        <p:txBody>
          <a:bodyPr>
            <a:normAutofit/>
          </a:bodyPr>
          <a:lstStyle/>
          <a:p>
            <a:r>
              <a:rPr lang="uk-UA" sz="3600" dirty="0">
                <a:latin typeface="Unbounded" pitchFamily="2" charset="77"/>
              </a:rPr>
              <a:t>Чим ШІ-робот відрізняється від звичайного робота</a:t>
            </a:r>
            <a:endParaRPr lang="en-UA" sz="3600" dirty="0">
              <a:latin typeface="Unbounde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CF5B-C594-3A6A-62A4-D30F8749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9810750" cy="42338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400" b="1" dirty="0">
                <a:latin typeface="Unbounded Light" pitchFamily="2" charset="77"/>
              </a:rPr>
              <a:t>Звичайний робот</a:t>
            </a:r>
            <a:r>
              <a:rPr lang="uk-UA" sz="2400" dirty="0">
                <a:latin typeface="Unbounded Light" pitchFamily="2" charset="77"/>
              </a:rPr>
              <a:t> працює за принципом: </a:t>
            </a:r>
            <a:r>
              <a:rPr lang="uk-UA" sz="2400" b="1" dirty="0">
                <a:latin typeface="Unbounded Light" pitchFamily="2" charset="77"/>
              </a:rPr>
              <a:t>команда – дія</a:t>
            </a:r>
            <a:r>
              <a:rPr lang="uk-UA" sz="2400" dirty="0">
                <a:latin typeface="Unbounded Light" pitchFamily="2" charset="77"/>
              </a:rPr>
              <a:t>. Він виконує лише те, що в нього закладено наперед, і не розуміє контексту.</a:t>
            </a:r>
          </a:p>
          <a:p>
            <a:pPr marL="0" indent="0">
              <a:buNone/>
            </a:pPr>
            <a:endParaRPr lang="uk-UA" sz="2400" dirty="0">
              <a:latin typeface="Unbounded Light" pitchFamily="2" charset="77"/>
            </a:endParaRPr>
          </a:p>
          <a:p>
            <a:pPr marL="0" indent="0">
              <a:buNone/>
            </a:pPr>
            <a:r>
              <a:rPr lang="uk-UA" sz="2400" b="1" dirty="0">
                <a:latin typeface="Unbounded Light" pitchFamily="2" charset="77"/>
              </a:rPr>
              <a:t>ШІ-робот</a:t>
            </a:r>
            <a:r>
              <a:rPr lang="uk-UA" sz="2400" dirty="0">
                <a:latin typeface="Unbounded Light" pitchFamily="2" charset="77"/>
              </a:rPr>
              <a:t> працює інакше. Він може чути голос, розпізнавати обличчя, реагувати на жести та змінювати поведінку залежно від того, що відбувається навколо.</a:t>
            </a:r>
          </a:p>
        </p:txBody>
      </p:sp>
    </p:spTree>
    <p:extLst>
      <p:ext uri="{BB962C8B-B14F-4D97-AF65-F5344CB8AC3E}">
        <p14:creationId xmlns:p14="http://schemas.microsoft.com/office/powerpoint/2010/main" val="421547789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8DF6-E898-6EC8-E2F9-56B95ECE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88899"/>
            <a:ext cx="9810750" cy="1325563"/>
          </a:xfrm>
        </p:spPr>
        <p:txBody>
          <a:bodyPr/>
          <a:lstStyle/>
          <a:p>
            <a:pPr algn="ctr"/>
            <a:r>
              <a:rPr lang="uk-UA" dirty="0">
                <a:latin typeface="Unbounded" pitchFamily="2" charset="77"/>
              </a:rPr>
              <a:t>Знайомство з L</a:t>
            </a:r>
            <a:r>
              <a:rPr lang="en-US" dirty="0" err="1">
                <a:latin typeface="Unbounded" pitchFamily="2" charset="77"/>
              </a:rPr>
              <a:t>oona</a:t>
            </a:r>
            <a:endParaRPr lang="en-UA" dirty="0">
              <a:latin typeface="Unbounde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CF5B-C594-3A6A-62A4-D30F8749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931"/>
            <a:ext cx="9810750" cy="18621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400" dirty="0">
                <a:latin typeface="Unbounded Light" pitchFamily="2" charset="77"/>
              </a:rPr>
              <a:t>Головна особливість </a:t>
            </a:r>
            <a:r>
              <a:rPr lang="en-GB" sz="2400" dirty="0" err="1">
                <a:latin typeface="Unbounded Light" pitchFamily="2" charset="77"/>
              </a:rPr>
              <a:t>Loona</a:t>
            </a:r>
            <a:r>
              <a:rPr lang="en-GB" sz="2400" dirty="0">
                <a:latin typeface="Unbounded Light" pitchFamily="2" charset="77"/>
              </a:rPr>
              <a:t> – </a:t>
            </a:r>
            <a:r>
              <a:rPr lang="uk-UA" sz="2400" dirty="0">
                <a:latin typeface="Unbounded Light" pitchFamily="2" charset="77"/>
              </a:rPr>
              <a:t>вона створена так, щоб людина сприймала її не як пристрій, а як друга або цифрового улюбленця.</a:t>
            </a:r>
            <a:endParaRPr lang="en-UA" sz="2400" dirty="0">
              <a:latin typeface="Unbounded Light" pitchFamily="2" charset="77"/>
            </a:endParaRPr>
          </a:p>
        </p:txBody>
      </p:sp>
      <p:pic>
        <p:nvPicPr>
          <p:cNvPr id="2050" name="Picture 2" descr="KEYi Tech - RobotShop">
            <a:extLst>
              <a:ext uri="{FF2B5EF4-FFF2-40B4-BE49-F238E27FC236}">
                <a16:creationId xmlns:a16="http://schemas.microsoft.com/office/drawing/2014/main" id="{526B93D4-F685-DC5F-23C3-5150150E5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4829174"/>
            <a:ext cx="1862137" cy="18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16911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8DF6-E898-6EC8-E2F9-56B95ECE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762" y="18256"/>
            <a:ext cx="9810750" cy="1325563"/>
          </a:xfrm>
        </p:spPr>
        <p:txBody>
          <a:bodyPr>
            <a:normAutofit/>
          </a:bodyPr>
          <a:lstStyle/>
          <a:p>
            <a:pPr algn="ctr"/>
            <a:r>
              <a:rPr lang="uk-UA" sz="3600" dirty="0">
                <a:latin typeface="Unbounded" pitchFamily="2" charset="77"/>
              </a:rPr>
              <a:t>Як </a:t>
            </a:r>
            <a:r>
              <a:rPr lang="uk-UA" sz="3600" dirty="0" err="1">
                <a:latin typeface="Unbounded" pitchFamily="2" charset="77"/>
              </a:rPr>
              <a:t>Lo</a:t>
            </a:r>
            <a:r>
              <a:rPr lang="en-US" sz="3600" dirty="0" err="1">
                <a:latin typeface="Unbounded" pitchFamily="2" charset="77"/>
              </a:rPr>
              <a:t>ona</a:t>
            </a:r>
            <a:r>
              <a:rPr lang="en-US" sz="3600" dirty="0">
                <a:latin typeface="Unbounded" pitchFamily="2" charset="77"/>
              </a:rPr>
              <a:t> </a:t>
            </a:r>
            <a:r>
              <a:rPr lang="uk-UA" sz="3600" dirty="0">
                <a:latin typeface="Unbounded" pitchFamily="2" charset="77"/>
              </a:rPr>
              <a:t>«розуміє» людину?</a:t>
            </a:r>
            <a:endParaRPr lang="en-UA" sz="3600" dirty="0">
              <a:latin typeface="Unbounde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CF5B-C594-3A6A-62A4-D30F8749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100"/>
            <a:ext cx="9810750" cy="36433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 err="1">
                <a:latin typeface="Unbounded Light" pitchFamily="2" charset="77"/>
              </a:rPr>
              <a:t>Loona</a:t>
            </a:r>
            <a:r>
              <a:rPr lang="en-GB" dirty="0">
                <a:latin typeface="Unbounded Light" pitchFamily="2" charset="77"/>
              </a:rPr>
              <a:t> </a:t>
            </a:r>
            <a:r>
              <a:rPr lang="uk-UA" dirty="0">
                <a:latin typeface="Unbounded Light" pitchFamily="2" charset="77"/>
              </a:rPr>
              <a:t>реагує на жести, голосові команди та рухи, а ще має власні емоційні реакції: </a:t>
            </a:r>
            <a:r>
              <a:rPr lang="uk-UA" i="1" dirty="0">
                <a:latin typeface="Unbounded Light" pitchFamily="2" charset="77"/>
              </a:rPr>
              <a:t>радість, цікавість, здивування.</a:t>
            </a:r>
            <a:endParaRPr lang="uk-UA" sz="4000" i="1" dirty="0">
              <a:latin typeface="Unbounded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8001301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8DF6-E898-6EC8-E2F9-56B95ECE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762" y="297384"/>
            <a:ext cx="9810750" cy="995915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600" dirty="0">
                <a:latin typeface="Unbounded" pitchFamily="2" charset="77"/>
              </a:rPr>
              <a:t>Спілкування з </a:t>
            </a:r>
            <a:r>
              <a:rPr lang="en-US" sz="3600" dirty="0" err="1">
                <a:latin typeface="Unbounded" pitchFamily="2" charset="77"/>
              </a:rPr>
              <a:t>Loona</a:t>
            </a:r>
            <a:r>
              <a:rPr lang="en-US" sz="3600" dirty="0">
                <a:latin typeface="Unbounded" pitchFamily="2" charset="77"/>
              </a:rPr>
              <a:t> </a:t>
            </a:r>
            <a:r>
              <a:rPr lang="uk-UA" sz="3600" dirty="0">
                <a:latin typeface="Unbounded" pitchFamily="2" charset="77"/>
              </a:rPr>
              <a:t>через телефон</a:t>
            </a:r>
            <a:endParaRPr lang="en-UA" sz="3600" dirty="0">
              <a:latin typeface="Unbounde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CF5B-C594-3A6A-62A4-D30F8749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6381750" cy="40005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400" dirty="0">
                <a:latin typeface="Unbounded Light" pitchFamily="2" charset="77"/>
              </a:rPr>
              <a:t>Для керування </a:t>
            </a:r>
            <a:r>
              <a:rPr lang="en-GB" sz="2400" dirty="0" err="1">
                <a:latin typeface="Unbounded Light" pitchFamily="2" charset="77"/>
              </a:rPr>
              <a:t>Loona</a:t>
            </a:r>
            <a:r>
              <a:rPr lang="en-GB" sz="2400" dirty="0">
                <a:latin typeface="Unbounded Light" pitchFamily="2" charset="77"/>
              </a:rPr>
              <a:t> </a:t>
            </a:r>
            <a:r>
              <a:rPr lang="uk-UA" sz="2400" dirty="0">
                <a:latin typeface="Unbounded Light" pitchFamily="2" charset="77"/>
              </a:rPr>
              <a:t>використовується мобільний застосунок. Через телефон ми можемо спілкуватися з роботом, запускати ігри, керувати рухами та змінювати поведінку.</a:t>
            </a:r>
            <a:endParaRPr lang="uk-UA" sz="3600" dirty="0">
              <a:latin typeface="Unbounded Light" pitchFamily="2" charset="77"/>
            </a:endParaRPr>
          </a:p>
        </p:txBody>
      </p:sp>
      <p:pic>
        <p:nvPicPr>
          <p:cNvPr id="3074" name="Picture 2" descr="Loona Robot Dog Tutorials &amp; How-To Guides | KEYI Blog Center – Page 3">
            <a:extLst>
              <a:ext uri="{FF2B5EF4-FFF2-40B4-BE49-F238E27FC236}">
                <a16:creationId xmlns:a16="http://schemas.microsoft.com/office/drawing/2014/main" id="{FDF58106-2E12-3905-4532-FD1BDECCA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50" y="2228849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84290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8DF6-E898-6EC8-E2F9-56B95ECE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762" y="297384"/>
            <a:ext cx="9810750" cy="995915"/>
          </a:xfrm>
        </p:spPr>
        <p:txBody>
          <a:bodyPr>
            <a:normAutofit/>
          </a:bodyPr>
          <a:lstStyle/>
          <a:p>
            <a:pPr algn="ctr"/>
            <a:r>
              <a:rPr lang="uk-UA" sz="3600" dirty="0">
                <a:latin typeface="Unbounded" pitchFamily="2" charset="77"/>
              </a:rPr>
              <a:t>Програмування</a:t>
            </a:r>
            <a:endParaRPr lang="en-UA" sz="3600" dirty="0">
              <a:latin typeface="Unbounde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CF5B-C594-3A6A-62A4-D30F8749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6" y="1914523"/>
            <a:ext cx="6381750" cy="40005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 err="1">
                <a:latin typeface="Unbounded Light" pitchFamily="2" charset="77"/>
              </a:rPr>
              <a:t>Loona</a:t>
            </a:r>
            <a:r>
              <a:rPr lang="en-GB" dirty="0">
                <a:latin typeface="Unbounded Light" pitchFamily="2" charset="77"/>
              </a:rPr>
              <a:t> </a:t>
            </a:r>
            <a:r>
              <a:rPr lang="uk-UA" dirty="0">
                <a:latin typeface="Unbounded Light" pitchFamily="2" charset="77"/>
              </a:rPr>
              <a:t>можна програмувати за допомогою візуальних блоків. </a:t>
            </a:r>
          </a:p>
          <a:p>
            <a:pPr marL="0" indent="0">
              <a:buNone/>
            </a:pPr>
            <a:r>
              <a:rPr lang="uk-UA" dirty="0">
                <a:latin typeface="Unbounded Light" pitchFamily="2" charset="77"/>
              </a:rPr>
              <a:t>Це дуже схоже на </a:t>
            </a:r>
            <a:r>
              <a:rPr lang="en-GB" dirty="0">
                <a:latin typeface="Unbounded Light" pitchFamily="2" charset="77"/>
              </a:rPr>
              <a:t>Scratch: </a:t>
            </a:r>
            <a:r>
              <a:rPr lang="uk-UA" dirty="0">
                <a:latin typeface="Unbounded Light" pitchFamily="2" charset="77"/>
              </a:rPr>
              <a:t>ми не пишемо складний код, а складаємо логіку з готових блоків.</a:t>
            </a:r>
            <a:endParaRPr lang="uk-UA" sz="5400" dirty="0">
              <a:latin typeface="Unbounded Light" pitchFamily="2" charset="77"/>
            </a:endParaRPr>
          </a:p>
        </p:txBody>
      </p:sp>
      <p:pic>
        <p:nvPicPr>
          <p:cNvPr id="5122" name="Picture 2" descr="Your Loona Questions Answered: Master Your AI Pet's Voice ...">
            <a:extLst>
              <a:ext uri="{FF2B5EF4-FFF2-40B4-BE49-F238E27FC236}">
                <a16:creationId xmlns:a16="http://schemas.microsoft.com/office/drawing/2014/main" id="{8BBB1141-ED60-0F71-67C7-CC90EC2D8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46" y="2414585"/>
            <a:ext cx="4881166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84319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8DF6-E898-6EC8-E2F9-56B95ECE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365125"/>
            <a:ext cx="9810750" cy="1325563"/>
          </a:xfrm>
        </p:spPr>
        <p:txBody>
          <a:bodyPr>
            <a:normAutofit/>
          </a:bodyPr>
          <a:lstStyle/>
          <a:p>
            <a:pPr algn="ctr"/>
            <a:r>
              <a:rPr lang="uk-UA" sz="3600" dirty="0">
                <a:latin typeface="Unbounded" pitchFamily="2" charset="77"/>
              </a:rPr>
              <a:t>Чому спілкування з ШІ-роботом це майбутнє?</a:t>
            </a:r>
            <a:endParaRPr lang="en-UA" sz="3600" dirty="0">
              <a:latin typeface="Unbounde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CF5B-C594-3A6A-62A4-D30F8749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9810750" cy="42338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dirty="0">
                <a:latin typeface="Unbounded Light" pitchFamily="2" charset="77"/>
              </a:rPr>
              <a:t>ШІ-роботи навчають нас не лише технологіям, а й новому способу мислення. Ми починаємо розуміти, як працює логіка, алгоритми та штучний інтелект.</a:t>
            </a:r>
            <a:endParaRPr lang="en-UA" sz="4000" dirty="0">
              <a:latin typeface="Unbounded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6642886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AC73FC8-FEFD-017B-2F9A-EA07943C4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2766218"/>
            <a:ext cx="9810750" cy="1325563"/>
          </a:xfrm>
        </p:spPr>
        <p:txBody>
          <a:bodyPr>
            <a:normAutofit/>
          </a:bodyPr>
          <a:lstStyle/>
          <a:p>
            <a:pPr algn="ctr"/>
            <a:r>
              <a:rPr lang="uk-UA" sz="3600" dirty="0">
                <a:solidFill>
                  <a:schemeClr val="bg1"/>
                </a:solidFill>
                <a:latin typeface="Unbounded" pitchFamily="2" charset="77"/>
              </a:rPr>
              <a:t>А зараз, познайомимось з L</a:t>
            </a:r>
            <a:r>
              <a:rPr lang="en-US" sz="3600" dirty="0" err="1">
                <a:solidFill>
                  <a:schemeClr val="bg1"/>
                </a:solidFill>
                <a:latin typeface="Unbounded" pitchFamily="2" charset="77"/>
              </a:rPr>
              <a:t>oona</a:t>
            </a:r>
            <a:endParaRPr lang="en-UA" sz="3600" dirty="0">
              <a:solidFill>
                <a:schemeClr val="bg1"/>
              </a:solidFill>
              <a:latin typeface="Unbounde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6482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712</Words>
  <Application>Microsoft Macintosh PowerPoint</Application>
  <PresentationFormat>Widescreen</PresentationFormat>
  <Paragraphs>43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Helvetica Neue</vt:lpstr>
      <vt:lpstr>Unbounded</vt:lpstr>
      <vt:lpstr>Unbounded Light</vt:lpstr>
      <vt:lpstr>Unbounded Medium</vt:lpstr>
      <vt:lpstr>Office Theme</vt:lpstr>
      <vt:lpstr>PowerPoint Presentation</vt:lpstr>
      <vt:lpstr>Хто такі ШІ-роботи і чому вони нас дивують</vt:lpstr>
      <vt:lpstr>Чим ШІ-робот відрізняється від звичайного робота</vt:lpstr>
      <vt:lpstr>Знайомство з Loona</vt:lpstr>
      <vt:lpstr>Як Loona «розуміє» людину?</vt:lpstr>
      <vt:lpstr>Спілкування з Loona через телефон</vt:lpstr>
      <vt:lpstr>Програмування</vt:lpstr>
      <vt:lpstr>Чому спілкування з ШІ-роботом це майбутнє?</vt:lpstr>
      <vt:lpstr>А зараз, познайомимось з Loona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Andrii Kuzmin</dc:creator>
  <cp:lastModifiedBy>Андрій Кузьмін</cp:lastModifiedBy>
  <cp:revision>8</cp:revision>
  <dcterms:created xsi:type="dcterms:W3CDTF">2026-01-08T10:44:09Z</dcterms:created>
  <dcterms:modified xsi:type="dcterms:W3CDTF">2026-02-26T16:51:03Z</dcterms:modified>
</cp:coreProperties>
</file>